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4E"/>
                </a:solidFill>
              </a:rPr>
              <a:t>sf-agents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governance-first structured finance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46304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 green bond with 974 mortgages
averaging 208 kWh/m²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9260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Four times the ISS SPO threshold. A compliance gap — or a €312M renovation campaign?
sf-agents finds out in under 7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5760720"/>
            <a:ext cx="3108960" cy="822960"/>
          </a:xfrm>
          <a:prstGeom prst="rect">
            <a:avLst/>
          </a:prstGeom>
          <a:solidFill>
            <a:srgbClr val="1A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57790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7A4E"/>
                </a:solidFill>
              </a:rPr>
              <a:t>Green Lion 2026-1 B.V.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60533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BBCC"/>
                </a:solidFill>
              </a:rPr>
              <a:t>€1.033B · 3,237 loans · ING · NL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What sf-agents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Governance-first structured finance AI on AWS Bedrock eu-north-1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3291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3291840" cy="54864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1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D1B2A"/>
                </a:solidFill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39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registered primitives
connectors · extractors
analyzers · validators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3291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3291840" cy="54864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44751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48839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pre-built recipes
impact mapping · 3LoD
definition transparency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3291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3291840" cy="54864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444751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D1B2A"/>
                </a:solidFill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148839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audit coverage
every step hashed
append-only JSONL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5661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The LLM planner writes a DAG live for each question — no hardcoded workflows. Every step produces dual-grounded citations: exact document page + exact tape row.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309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Bedrock · Sonnet 4.6 · eu-north-1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Green Lion 2026-1 B.V.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ING originator · Dutch residential mortgages · reporting date 2026-04-30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2651760" cy="4572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B2A"/>
                </a:solidFill>
              </a:rPr>
              <a:t>€1.033B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total balance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188720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64408" y="1188720"/>
            <a:ext cx="2651760" cy="4572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35331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B2A"/>
                </a:solidFill>
              </a:rPr>
              <a:t>3,237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loans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188720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17336" y="1188720"/>
            <a:ext cx="2651760" cy="4572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35331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B2A"/>
                </a:solidFill>
              </a:rPr>
              <a:t>3.18%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WA interest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70263" y="1188720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70263" y="1188720"/>
            <a:ext cx="2651760" cy="4572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135331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B2A"/>
                </a:solidFill>
              </a:rPr>
              <a:t>68.9%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WA current LTV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816352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816352"/>
            <a:ext cx="2651760" cy="4572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980944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B2A"/>
                </a:solidFill>
              </a:rPr>
              <a:t>261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850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WA remaining term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4408" y="2816352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64408" y="2816352"/>
            <a:ext cx="2651760" cy="4572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1568" y="2980944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B2A"/>
                </a:solidFill>
              </a:rPr>
              <a:t>19.7%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36850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NHG guarantee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17336" y="2816352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17336" y="2816352"/>
            <a:ext cx="2651760" cy="45720"/>
          </a:xfrm>
          <a:prstGeom prst="rect">
            <a:avLst/>
          </a:prstGeom>
          <a:solidFill>
            <a:srgbClr val="E8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2980944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B2A"/>
                </a:solidFill>
              </a:rPr>
              <a:t>99.97%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36850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performing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70263" y="2816352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70263" y="2816352"/>
            <a:ext cx="2651760" cy="45720"/>
          </a:xfrm>
          <a:prstGeom prst="rect">
            <a:avLst/>
          </a:prstGeom>
          <a:solidFill>
            <a:srgbClr val="E8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07424" y="2980944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B2A"/>
                </a:solidFill>
              </a:rPr>
              <a:t>0.03%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07424" y="36850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90+ day arrears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309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Source: green_lion_2026_1_synthetic_loan_tape.csv — computed directly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ISS SPO green claims tested against 3,237 loan tape rows — live Bedrock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4937760" cy="13716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9377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0392B"/>
                </a:solidFill>
              </a:rPr>
              <a:t>133.47 kWh/m²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AAAA"/>
                </a:solidFill>
              </a:rPr>
              <a:t>mean primary energy demand  ·  threshold: 27 kWh/m²  ·  4.9× 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097280"/>
            <a:ext cx="2743200" cy="13716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0" y="109728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34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0392B"/>
                </a:solidFill>
              </a:rPr>
              <a:t>12.8%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9019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AAAA"/>
                </a:solidFill>
              </a:rPr>
              <a:t>pass PED criterion
(414 of 3,237 loans)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1097280"/>
            <a:ext cx="3200400" cy="13716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41080" y="1097280"/>
            <a:ext cx="32004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23444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0392B"/>
                </a:solidFill>
              </a:rPr>
              <a:t>1,456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019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AAAA"/>
                </a:solidFill>
              </a:rPr>
              <a:t>loans EPC below A
(B through 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788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BBCC"/>
                </a:solidFill>
              </a:rPr>
              <a:t>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BBCC"/>
                </a:solidFill>
              </a:rPr>
              <a:t>VERDICT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788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BBCC"/>
                </a:solidFill>
              </a:rPr>
              <a:t>SOURCE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81527"/>
            <a:ext cx="11521440" cy="411480"/>
          </a:xfrm>
          <a:prstGeom prst="rect">
            <a:avLst/>
          </a:prstGeom>
          <a:solidFill>
            <a:srgbClr val="12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546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Green Asset Portfolio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154679"/>
            <a:ext cx="29260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87952" y="3163823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NOT SUPPORTED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1546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pg. 207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38727"/>
            <a:ext cx="11521440" cy="411480"/>
          </a:xfrm>
          <a:prstGeom prst="rect">
            <a:avLst/>
          </a:prstGeom>
          <a:solidFill>
            <a:srgbClr val="12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118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Green Bond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3611879"/>
            <a:ext cx="29260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3621023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NOT SUPPORTED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6118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pg. 207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995927"/>
            <a:ext cx="11521440" cy="411480"/>
          </a:xfrm>
          <a:prstGeom prst="rect">
            <a:avLst/>
          </a:prstGeom>
          <a:solidFill>
            <a:srgbClr val="12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690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Energy Efficient Mortgage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4069079"/>
            <a:ext cx="29260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87952" y="4078223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NOT SUPPORTED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0690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pg. 207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453127"/>
            <a:ext cx="11521440" cy="411480"/>
          </a:xfrm>
          <a:prstGeom prst="rect">
            <a:avLst/>
          </a:prstGeom>
          <a:solidFill>
            <a:srgbClr val="12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5262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Near Zero Energy Building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4526279"/>
            <a:ext cx="2926080" cy="256032"/>
          </a:xfrm>
          <a:prstGeom prst="rect">
            <a:avLst/>
          </a:prstGeom>
          <a:solidFill>
            <a:srgbClr val="E8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87952" y="4535423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PARTIALLY SUPPORTED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5262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pg. 207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910327"/>
            <a:ext cx="11521440" cy="411480"/>
          </a:xfrm>
          <a:prstGeom prst="rect">
            <a:avLst/>
          </a:prstGeom>
          <a:solidFill>
            <a:srgbClr val="12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9834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EPC label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4983479"/>
            <a:ext cx="2926080" cy="256032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87952" y="4992623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SUPPORTED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983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pg. 207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6309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85 citation checks · dual-grounded (ISS SPO page + tape column) · run 650eb8ef · 410s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EPC below A  ·  remaining term ≥ 4 years  ·  current LTV &lt; 80%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2651760" cy="4572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80160"/>
            <a:ext cx="24323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974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874519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loans in segment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4300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143000"/>
            <a:ext cx="2651760" cy="4572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280160"/>
            <a:ext cx="24323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€312M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874519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outstanding balance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2651760" cy="4572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1280160"/>
            <a:ext cx="24323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30.1%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1874519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of pool by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59" y="1143000"/>
            <a:ext cx="26517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59" y="1143000"/>
            <a:ext cx="2651760" cy="4572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2287" y="1280160"/>
            <a:ext cx="24323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208 kWh/m²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7" y="1874519"/>
            <a:ext cx="2432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avg energy demand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EPC label breakdown within segment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063240"/>
            <a:ext cx="2559004" cy="457200"/>
          </a:xfrm>
          <a:prstGeom prst="rect">
            <a:avLst/>
          </a:prstGeom>
          <a:solidFill>
            <a:srgbClr val="5DA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3099816"/>
            <a:ext cx="25224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
389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0484" y="3063240"/>
            <a:ext cx="1736702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88772" y="3099816"/>
            <a:ext cx="170012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
264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7186" y="3063240"/>
            <a:ext cx="1289369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5474" y="3099816"/>
            <a:ext cx="125279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
196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96556" y="3063240"/>
            <a:ext cx="532851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14844" y="3099816"/>
            <a:ext cx="496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
81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29408" y="3063240"/>
            <a:ext cx="131568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60976" y="3063240"/>
            <a:ext cx="151303" cy="457200"/>
          </a:xfrm>
          <a:prstGeom prst="rect">
            <a:avLst/>
          </a:prstGeom>
          <a:solidFill>
            <a:srgbClr val="96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743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Top provinces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063240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3118104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Noord-Holland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11810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D1B2A"/>
                </a:solidFill>
              </a:rPr>
              <a:t>256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3447288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350215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Zuid-Holland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5021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D1B2A"/>
                </a:solidFill>
              </a:rPr>
              <a:t>245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3831336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388620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Noord-Brabant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88620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D1B2A"/>
                </a:solidFill>
              </a:rPr>
              <a:t>116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4215384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427024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Utrecht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42702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D1B2A"/>
                </a:solidFill>
              </a:rPr>
              <a:t>80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4599432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465429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Gelderland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46542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D1B2A"/>
                </a:solidFill>
              </a:rPr>
              <a:t>79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4983480"/>
            <a:ext cx="11338560" cy="1417320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4983480"/>
            <a:ext cx="11338560" cy="4572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5074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If 30% of segment renovates to EPC A  (292 loans):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7A4E"/>
                </a:solidFill>
              </a:rPr>
              <a:t>Green share:  55.02%  →  64.04%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A4E"/>
                </a:solidFill>
              </a:rPr>
              <a:t>+9.02 percentage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5897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Avg equity in segment: €3,598,247  ·  borrowers have headroom for renovation finance today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Source: analyzer.green_renovation_potential · deterministic · run 77dabb18 · 31s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Governance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Every finding is dual-grounded, time-stamped, and hashed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521440" cy="320040"/>
          </a:xfrm>
          <a:prstGeom prst="rect">
            <a:avLst/>
          </a:prstGeom>
          <a:solidFill>
            <a:srgbClr val="0A4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97864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4E"/>
                </a:solidFill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19786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4E"/>
                </a:solidFill>
              </a:rPr>
              <a:t>PRIMITIVE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1978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4E"/>
                </a:solidFill>
              </a:rPr>
              <a:t>CONF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19786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4E"/>
                </a:solidFill>
              </a:rPr>
              <a:t>DURATION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19786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4E"/>
                </a:solidFill>
              </a:rPr>
              <a:t>TIMESTAMP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90472"/>
            <a:ext cx="11521440" cy="347472"/>
          </a:xfrm>
          <a:prstGeom prst="rect">
            <a:avLst/>
          </a:prstGeom>
          <a:solidFill>
            <a:srgbClr val="12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54480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load_prospectus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554480"/>
            <a:ext cx="2670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connector.prospectus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554480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A4E"/>
                </a:solidFill>
              </a:rPr>
              <a:t>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554480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6104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554480"/>
            <a:ext cx="3858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2026-06-09 16:11:03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856231"/>
            <a:ext cx="11521440" cy="347472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920239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load_spo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1920239"/>
            <a:ext cx="2670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connector.pdf_document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1920239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A4E"/>
                </a:solidFill>
              </a:rPr>
              <a:t>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920239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6243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1920239"/>
            <a:ext cx="3858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2026-06-09 16:11:09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221991"/>
            <a:ext cx="11521440" cy="347472"/>
          </a:xfrm>
          <a:prstGeom prst="rect">
            <a:avLst/>
          </a:prstGeom>
          <a:solidFill>
            <a:srgbClr val="12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285999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load_tape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285999"/>
            <a:ext cx="2670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connector.loan_tape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2285999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A4E"/>
                </a:solidFill>
              </a:rPr>
              <a:t>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285999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102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285999"/>
            <a:ext cx="3858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2026-06-09 16:11:09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587751"/>
            <a:ext cx="11521440" cy="347472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651759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locate_green_section_prospec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2651759"/>
            <a:ext cx="2670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extractor.locator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2651759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8C00"/>
                </a:solidFill>
              </a:rPr>
              <a:t>0.82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651759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12173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651759"/>
            <a:ext cx="3858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2026-06-09 16:11:21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953511"/>
            <a:ext cx="11521440" cy="347472"/>
          </a:xfrm>
          <a:prstGeom prst="rect">
            <a:avLst/>
          </a:prstGeom>
          <a:solidFill>
            <a:srgbClr val="12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017519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extract_green_criteria_prosp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3017519"/>
            <a:ext cx="2670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extractor.general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3017519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8C00"/>
                </a:solidFill>
              </a:rPr>
              <a:t>0.8444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017519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19776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3017519"/>
            <a:ext cx="3858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2026-06-09 16:11:41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319271"/>
            <a:ext cx="11521440" cy="347472"/>
          </a:xfrm>
          <a:prstGeom prst="rect">
            <a:avLst/>
          </a:prstGeom>
          <a:solidFill>
            <a:srgbClr val="0D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383279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locate_green_section_spo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3383279"/>
            <a:ext cx="2670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extractor.locator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3383279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392B"/>
                </a:solidFill>
              </a:rPr>
              <a:t>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3383279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11371 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3383279"/>
            <a:ext cx="3858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2026-06-09 16:11:53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526280"/>
            <a:ext cx="11521440" cy="1005840"/>
          </a:xfrm>
          <a:prstGeom prst="rect">
            <a:avLst/>
          </a:prstGeom>
          <a:solidFill>
            <a:srgbClr val="073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79" y="4617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79" y="5029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CCAA"/>
                </a:solidFill>
              </a:rPr>
              <a:t>plan steps (Q-A)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4617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85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1720" y="5029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CCAA"/>
                </a:solidFill>
              </a:rPr>
              <a:t>citation checks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51959" y="4617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410s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59" y="5029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CCAA"/>
                </a:solidFill>
              </a:rPr>
              <a:t>Q-A latency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617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31s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5029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CCAA"/>
                </a:solidFill>
              </a:rPr>
              <a:t>Q-B latency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2440" y="4617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5029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CCAA"/>
                </a:solidFill>
              </a:rPr>
              <a:t>primitives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12680" y="4617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5029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CCAA"/>
                </a:solidFill>
              </a:rPr>
              <a:t>hardcoded workflows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" y="580644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</a:rPr>
              <a:t>sf-agents turns a 284-page prospectus, a 29-page SPO, and 3,237 loan tape rows into a cited, auditable investment verdict in under 7 minutes.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run 650eb8ef · 85 citations · audit_logs/650eb8ef-...audit.jsonl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</a:rPr>
              <a:t>Pool Trend  Feb → Mar → Apr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Three monthly tapes — 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3E50"/>
                </a:solidFill>
              </a:rP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Feb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Mar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Apr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08760"/>
            <a:ext cx="113385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45919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Pool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6459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€1.049B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6459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€1.042B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6459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€1.033B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148839"/>
            <a:ext cx="11338560" cy="54864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85999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Loan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2859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3,275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2859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3,261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2859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3,237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788920"/>
            <a:ext cx="113385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926079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WA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9260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3.20%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9260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3.19%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9260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3.18%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428999"/>
            <a:ext cx="11338560" cy="54864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566159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Green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566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68.58%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566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68.35%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566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68.64%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069079"/>
            <a:ext cx="113385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2062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Avg PED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133.14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132.72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133.47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709160"/>
            <a:ext cx="11338560" cy="54864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8463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90d+ Arrears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0.0327%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0.0328%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0.0331%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3093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757D"/>
                </a:solidFill>
              </a:rPr>
              <a:t>Source: /api/deal/periods + tape direct. CPR not computable (no per-loan scheduled amortisation).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